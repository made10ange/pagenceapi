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188720"/>
            <a:ext cx="3840480" cy="3840480"/>
          </a:xfrm>
          <a:prstGeom prst="ellipse">
            <a:avLst/>
          </a:prstGeom>
          <a:solidFill>
            <a:srgbClr val="2C1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29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05840" cy="91440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entury Gothic"/>
              </a:rPr>
              <a:t>Conception et développement d'une application
de gestion d'agence de voyage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D2EE"/>
                </a:solidFill>
                <a:latin typeface="Calibri"/>
              </a:rPr>
              <a:t>ISTAG — Institut Supérieur de Technologie Appliquée et de 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239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D2EE"/>
                </a:solidFill>
                <a:latin typeface="Calibri"/>
              </a:rPr>
              <a:t>Licence Professionnelle en Informatique de 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445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D2EE"/>
                </a:solidFill>
                <a:latin typeface="Calibri"/>
              </a:rPr>
              <a:t>Conception et développement d'une application de gestion d'agence de voyage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65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D2EE"/>
                </a:solidFill>
                <a:latin typeface="Calibri"/>
              </a:rPr>
              <a:t>Présenté par : YOUMBI FLORIDA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8581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D2EE"/>
                </a:solidFill>
                <a:latin typeface="Calibri"/>
              </a:rPr>
              <a:t>Encadreur académique : M. BEKECK MARTIN ROLAND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D2EE"/>
                </a:solidFill>
                <a:latin typeface="Calibri"/>
              </a:rPr>
              <a:t>Encadreur professionnel : M. YAMSI CHRISTIAN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2706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D2EE"/>
                </a:solidFill>
                <a:latin typeface="Calibri"/>
              </a:rPr>
              <a:t>Structure d'accueil : Fire Software, Yaoundé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64768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D2EE"/>
                </a:solidFill>
                <a:latin typeface="Calibri"/>
              </a:rPr>
              <a:t>Année académique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B2178"/>
                </a:solidFill>
                <a:latin typeface="Century Gothic"/>
              </a:rP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916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93B"/>
                </a:solidFill>
                <a:latin typeface="Century Gothic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194560"/>
            <a:ext cx="640080" cy="54864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3317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3B2178"/>
                </a:solidFill>
                <a:latin typeface="Century Gothic"/>
              </a:rPr>
              <a:t>Présentation de la structure d'accueil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0632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A445C"/>
                </a:solidFill>
                <a:latin typeface="Calibri"/>
              </a:rPr>
              <a:t>Découverte de Fire Software et de son environnement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6916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93B"/>
                </a:solidFill>
                <a:latin typeface="Century Gothic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2194560"/>
            <a:ext cx="640080" cy="54864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23317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3B2178"/>
                </a:solidFill>
                <a:latin typeface="Century Gothic"/>
              </a:rPr>
              <a:t>Déroulement du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30632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A445C"/>
                </a:solidFill>
                <a:latin typeface="Calibri"/>
              </a:rPr>
              <a:t>Organisation et phases du projet professionnel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169164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93B"/>
                </a:solidFill>
                <a:latin typeface="Century Gothic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2194560"/>
            <a:ext cx="640080" cy="54864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23317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3B2178"/>
                </a:solidFill>
                <a:latin typeface="Century Gothic"/>
              </a:rPr>
              <a:t>Conception et réalisation du projet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306324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A445C"/>
                </a:solidFill>
                <a:latin typeface="Calibri"/>
              </a:rPr>
              <a:t>Architecture, technologies et modules développés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931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93B"/>
                </a:solidFill>
                <a:latin typeface="Century Gothic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4434840"/>
            <a:ext cx="640080" cy="54864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57200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3B2178"/>
                </a:solidFill>
                <a:latin typeface="Century Gothic"/>
              </a:rPr>
              <a:t>Apports, limites et perspectives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3035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A445C"/>
                </a:solidFill>
                <a:latin typeface="Calibri"/>
              </a:rPr>
              <a:t>Bilan critique et évolutions envisagées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3931920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A93B"/>
                </a:solidFill>
                <a:latin typeface="Century Gothic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4434840"/>
            <a:ext cx="640080" cy="54864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2" y="457200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3B2178"/>
                </a:solidFill>
                <a:latin typeface="Century Gothic"/>
              </a:rPr>
              <a:t>Conclusion et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530352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A445C"/>
                </a:solidFill>
                <a:latin typeface="Calibri"/>
              </a:rPr>
              <a:t>Synthèse et échanges avec le jury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Sommaire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Contexte : digitalisation croissante des services, gestion souvent encore manuelle (registres, Excel) dans les agences de transport interurbain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Problématique : comment fiabiliser et automatiser la gestion des agences, véhicules, chauffeurs, voyages, billetterie et comptabilité ?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Objectif : concevoir et développer une application web complète de gestion d'agence de voyage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Méthodologie : modélisation UML, développement ASP.NET Core 8.0 (C#),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472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A93B"/>
                </a:solidFill>
                <a:latin typeface="Century Gothic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entury Gothic"/>
              </a:rPr>
              <a:t>Présentation de la structure et
déroulement du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1005840" cy="7315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526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D2EE"/>
                </a:solidFill>
                <a:latin typeface="Calibri"/>
              </a:rPr>
              <a:t>Fire Software — cadre et déroulement du stage académique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Fire Software :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Entreprise créée en 2009, SARL, capital 150 000 000 FCFA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Siège à Yaoundé, Carrefour Intendance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Devise : « Rapidité – Efficacité »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Domaines : formation, maintenance, développement logiciel, systèmes d'information géographique (SIG), audit SI, sites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Missions, activités et environnement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Missions : développement de solutions logicielles pour PME/PMI, déploiement réseaux d'entreprise, audit de systèmes d'information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Ressources : salle de formation climatisée, salle de développement, équipe qualifiée + réseau d'experts certifiés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Clients : PME/PMI, institutions de formation, organisations SIG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Valeurs : respect, recherche de la perfection, exemplarité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Déroulement du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Période : 12 janvier – 12 juin 2025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Intégration progressive : découverte de l'existant, spécifications, développement, tests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Encadrement académique et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472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8A93B"/>
                </a:solidFill>
                <a:latin typeface="Century Gothic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entury Gothic"/>
              </a:rPr>
              <a:t>Présentation de la structure et
déroulement du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1005840" cy="73152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5262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D2EE"/>
                </a:solidFill>
                <a:latin typeface="Calibri"/>
              </a:rPr>
              <a:t>Fire Software — cadre et déroulement du stage académique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Présentation générale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AgenceV : application de gestion d'agences de transport interurbain de voyageurs (bus/car)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Gère : agences, véhicules, chauffeurs, voyages, passagers, billetterie, réservation en ligne avec paiement mobile money, comptabilité, personnel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Deux applications distinctes qui communiquent entre elles : un back-office (frontend MVC) et une API 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Architecture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Deux projets ASP.NET Core 8.0 indépendants :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Frontend MVC (Razor) — vues, authentification, appels HTTP vers l'API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API REST — logique métier, accès aux données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Communication HTTP/JSON entre les deux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Base de données MySQL/MariaDB (36 tables)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Stack technologique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Backend : ASP.NET Core 8.0 Web API, C#, pattern Repository, Dapper (SQL brut)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Frontend : ASP.NET Core MVC, Razor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Base de données : MySQL/MariaDB, procédures stockées pour la comptabilité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Autres : QuestPDF (génération PDF), ClosedXML (export Excel), BCrypt (sécurité mots de passe), Swagger (documentation API)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Modélisation : UML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Pourquoi Dapper plutôt qu'Entity Framework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Dapper choisi comme accès aux données principal : performance et contrôle total du SQL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Entity Framework Core présent dans l'architecture mais non exploité pour les requêtes métier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Comptabilité : approche hybride avec procédures stockées MySQL pour centraliser la logique transactionnelle complexe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Organisation multi-agence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Application conçue pour gérer plusieurs agences (succursales)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Chaque agence dispose de ses propres chauffeurs, véhicules, voyages et passagers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Isolation des données par agence à travers l'ensemble des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Modèle de données (vue d'ensemble)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36 tables organisées en 4 domaines logiques :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**Transport** : agence, chauffeur, véhicule, voyage, passager, embarquement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**Billetterie / Réservation** : billet, réservation, paiement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**Comptabilité** : plan comptable, opérations, caisses, journée comptable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**RH / Sécurité** : personnel, utilisateurs, groupes, privilèges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Module Voyages : la logique métier centrale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Gestion des trajets programmés (départ, arrivée, horaires, véhicule, chauffeur)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Numérotation journalière automatique des voyages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Détection automatique des conflits d'horaire : impossible d'affecter un chauffeur ou véhicule déjà engagé sur un créneau qui se chevauche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Suppression en cascade cohérente (affectations et embarquements liés)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Module Billetterie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Cycle de vie complet du billet : vente, validation, report sur un autre voyage, changement de type, impression PDF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Numéro de billet unique généré automatiquement (format BIL-AAAAMMJJ-XXXX)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Distinction entre voyage prévu et voyage effectivement utilisé (permet le report)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Module Embarquements &amp; Bagages/Colis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Enregistrement des passagers présents à bord d'un voyage, avec numéro de siège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Suivi des bagages et colis, avec génération de reçus, étiquettes et bordereaux de transport PDF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Référence colis générée automatiquement, sur le même principe que la billetterie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Réservation en ligne &amp; paiement mobile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Portail public accessible sans compte : recherche de voyages, réservation, paiement, récupération du billet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Étapes : recherche → réservation → paiement mobile money → confirmation → billet électronique PDF → consultation ultérieure par référence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Référence de réservation unique (format RES-AAAAMMJJ-XXXX)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Intégration d'un service de paiement mobile money (gestion asynchrone des notifications de paiement)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Module Comptabilité et Caisse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Plan comptable structuré selon le référentiel OHADA/COBAC, utilisé en Afrique francophone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Écritures comptables en partie double, journée comptable (ouverture/fermeture)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Gestion des caisses, transferts entre caisses, balance générale, brouillard de caisse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Écritures automatiques : chaque vente de billet, bagage ou colis génère automatiquement son écriture comptable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Module Personnel (RH) &amp;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Gestion du personnel, des postes et des fiches de paie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Un chauffeur est automatiquement synchronisé comme employé RH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Gestion des droits d'accès : utilisateurs, groupes, privilèges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Historique des connexions et journal d'audit des actions utilisateur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Sécurité et sauvegarde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Authentification par cookie avec gestion de session (8h, renouvellement glissant)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Mots de passe protégés par hachage BCrypt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Sauvegarde automatique de la base de données toutes les 24h (30 dernières sauvegardes conservées)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Démonstration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Démonstration en direct de l'application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Apports du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Maîtrise du développement d'une application web multi-couches en environnement professionnel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Approfondissement des concepts d'architecture logicielle (pattern Repository, séparation frontend/API)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Compréhension fonctionnelle de principes comptables (partie double, plan comptable OHADA/COBAC)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Travail d'audit et de fiabilisation du code existant (suppression de modules obsolètes)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Limites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Authentification de l'API reposant sur un mécanisme simple (en-têtes), une évolution vers un système de jetons (JWT) est envisageable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Absence de tests automatisés à ce stade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Fonctionnalité de balance client en cours de finalisation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Perspectives d'évolution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Migration de l'authentification API vers un schéma à jetons (JWT)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Finalisation de la configuration du module de paiement mobile money en production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Ajout de tests automatisés (unitaires et d'intégration)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Finalisation de la balance client et nettoyage du code résiduel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Partie I — Présentation &amp;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Rappel de l'objectif atteint : une application complète de gestion d'agence de voyage, de la réservation à la comptabilité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Ce stage a permis une mise en pratique concrète des compétences acquises en formation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Ouverture sur les perspectives d'évolution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C3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58368"/>
            <a:ext cx="685800" cy="82296"/>
          </a:xfrm>
          <a:prstGeom prst="rect">
            <a:avLst/>
          </a:prstGeom>
          <a:solidFill>
            <a:srgbClr val="E8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3B2178"/>
                </a:solidFill>
                <a:latin typeface="Century Gothic"/>
              </a:rPr>
              <a:t>Remerciements &amp;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Remerciements à l'encadreur académique, à l'encadreur professionnel, à Fire Software, au corps enseignant de l'ISTAG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6C3CC9"/>
                </a:solidFill>
                <a:latin typeface="Calibri"/>
              </a:rPr>
              <a:t>— </a:t>
            </a:r>
            <a:r>
              <a:rPr sz="1600">
                <a:solidFill>
                  <a:srgbClr val="4A445C"/>
                </a:solidFill>
                <a:latin typeface="Calibri"/>
              </a:rPr>
              <a:t>Merci de votre attention — Place aux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98B5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098B5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